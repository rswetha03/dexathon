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3" d="100"/>
          <a:sy n="23" d="100"/>
        </p:scale>
        <p:origin x="1013" y="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6C462-1935-46BC-B1D9-CEEB4E0F0885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90E43-B470-40BF-82F8-6E3429F63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22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7FAFB5B-57CB-AEFA-003F-0BB5A3A1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0" b="7820"/>
          <a:stretch>
            <a:fillRect/>
          </a:stretch>
        </p:blipFill>
        <p:spPr>
          <a:xfrm>
            <a:off x="0" y="0"/>
            <a:ext cx="12191954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A0DF343-60A4-590C-7BC8-91798ABC3FC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9A75276-2B1D-4B7F-F613-DEBAC52D46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513" y="323819"/>
            <a:ext cx="2729012" cy="843082"/>
          </a:xfrm>
          <a:prstGeom prst="rect">
            <a:avLst/>
          </a:prstGeom>
        </p:spPr>
      </p:pic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DDF4206D-0572-E2FA-BBE5-45F3A0925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371475" y="317536"/>
            <a:ext cx="2720526" cy="85564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2FD9994-5292-231D-4165-26892309EB7E}"/>
              </a:ext>
            </a:extLst>
          </p:cNvPr>
          <p:cNvSpPr txBox="1"/>
          <p:nvPr userDrawn="1"/>
        </p:nvSpPr>
        <p:spPr>
          <a:xfrm>
            <a:off x="634365" y="1188206"/>
            <a:ext cx="2245360" cy="115113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6168626"/>
              </a:avLst>
            </a:prstTxWarp>
            <a:spAutoFit/>
          </a:bodyPr>
          <a:lstStyle/>
          <a:p>
            <a:pPr algn="ctr"/>
            <a:r>
              <a:rPr lang="en-IN" sz="3600" b="1" dirty="0">
                <a:ln w="38100">
                  <a:noFill/>
                </a:ln>
                <a:solidFill>
                  <a:schemeClr val="bg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US" sz="3600" b="1" dirty="0">
              <a:ln w="38100">
                <a:noFill/>
              </a:ln>
              <a:solidFill>
                <a:schemeClr val="bg1"/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0" name="Google Shape;202;p45">
            <a:extLst>
              <a:ext uri="{FF2B5EF4-FFF2-40B4-BE49-F238E27FC236}">
                <a16:creationId xmlns:a16="http://schemas.microsoft.com/office/drawing/2014/main" id="{DD4D71D2-3825-2E15-CA0A-237033911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762" y="1630349"/>
            <a:ext cx="11084560" cy="93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aseline="0">
                <a:solidFill>
                  <a:schemeClr val="accent4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F6923A3-B18A-9065-C726-BBC5A9C675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11084560" cy="342257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4880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FAFB5B-57CB-AEFA-003F-0BB5A3A1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0" b="7820"/>
          <a:stretch>
            <a:fillRect/>
          </a:stretch>
        </p:blipFill>
        <p:spPr>
          <a:xfrm>
            <a:off x="0" y="0"/>
            <a:ext cx="12191954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0DF343-60A4-590C-7BC8-91798ABC3FC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75276-2B1D-4B7F-F613-DEBAC52D46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72" y="323819"/>
            <a:ext cx="2729012" cy="84308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F4206D-0572-E2FA-BBE5-45F3A0925D07}"/>
              </a:ext>
            </a:extLst>
          </p:cNvPr>
          <p:cNvSpPr>
            <a:spLocks noGrp="1"/>
          </p:cNvSpPr>
          <p:nvPr userDrawn="1"/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6616167" y="1989603"/>
            <a:ext cx="5135805" cy="1615293"/>
          </a:xfrm>
          <a:prstGeom prst="rect">
            <a:avLst/>
          </a:prstGeom>
        </p:spPr>
      </p:pic>
      <p:sp>
        <p:nvSpPr>
          <p:cNvPr id="7" name="TextBox 42">
            <a:extLst>
              <a:ext uri="{FF2B5EF4-FFF2-40B4-BE49-F238E27FC236}">
                <a16:creationId xmlns:a16="http://schemas.microsoft.com/office/drawing/2014/main" id="{42FD9994-5292-231D-4165-26892309EB7E}"/>
              </a:ext>
            </a:extLst>
          </p:cNvPr>
          <p:cNvSpPr txBox="1"/>
          <p:nvPr userDrawn="1"/>
        </p:nvSpPr>
        <p:spPr>
          <a:xfrm>
            <a:off x="6136640" y="3757726"/>
            <a:ext cx="6176138" cy="4410914"/>
          </a:xfrm>
          <a:prstGeom prst="rect">
            <a:avLst/>
          </a:prstGeom>
          <a:noFill/>
        </p:spPr>
        <p:txBody>
          <a:bodyPr spcFirstLastPara="1" wrap="square" numCol="1" rtlCol="0">
            <a:prstTxWarp prst="textArchUp">
              <a:avLst>
                <a:gd name="adj" fmla="val 5730049"/>
              </a:avLst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0" b="1" dirty="0">
                <a:ln w="38100">
                  <a:noFill/>
                </a:ln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US" sz="3600" b="1" dirty="0">
              <a:ln w="38100">
                <a:noFill/>
              </a:ln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Google Shape;202;p45">
            <a:extLst>
              <a:ext uri="{FF2B5EF4-FFF2-40B4-BE49-F238E27FC236}">
                <a16:creationId xmlns:a16="http://schemas.microsoft.com/office/drawing/2014/main" id="{BEE938DF-602A-6074-42C8-C7067316A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762" y="1630349"/>
            <a:ext cx="5587999" cy="93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aseline="0">
                <a:solidFill>
                  <a:schemeClr val="accent4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1" name="Text Placeholder 40">
            <a:extLst>
              <a:ext uri="{FF2B5EF4-FFF2-40B4-BE49-F238E27FC236}">
                <a16:creationId xmlns:a16="http://schemas.microsoft.com/office/drawing/2014/main" id="{8030667F-3367-8E49-0E6C-D1D034904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5587999" cy="342257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2914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8B1584E-8195-1F65-B6B5-60C5A2F96AFC}"/>
              </a:ext>
            </a:extLst>
          </p:cNvPr>
          <p:cNvGrpSpPr/>
          <p:nvPr userDrawn="1"/>
        </p:nvGrpSpPr>
        <p:grpSpPr>
          <a:xfrm>
            <a:off x="0" y="6002322"/>
            <a:ext cx="12192000" cy="863628"/>
            <a:chOff x="0" y="5921502"/>
            <a:chExt cx="12192000" cy="93649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4DE944D-0FA2-4F5D-D47C-AEC29E4EC8C8}"/>
                </a:ext>
              </a:extLst>
            </p:cNvPr>
            <p:cNvSpPr/>
            <p:nvPr/>
          </p:nvSpPr>
          <p:spPr>
            <a:xfrm>
              <a:off x="4768850" y="6034196"/>
              <a:ext cx="3327400" cy="703153"/>
            </a:xfrm>
            <a:custGeom>
              <a:avLst/>
              <a:gdLst>
                <a:gd name="csX0" fmla="*/ 3327400 w 3327400"/>
                <a:gd name="csY0" fmla="*/ 17354 h 703153"/>
                <a:gd name="csX1" fmla="*/ 969264 w 3327400"/>
                <a:gd name="csY1" fmla="*/ 18 h 703153"/>
                <a:gd name="csX2" fmla="*/ 602678 w 3327400"/>
                <a:gd name="csY2" fmla="*/ 131019 h 703153"/>
                <a:gd name="csX3" fmla="*/ 0 w 3327400"/>
                <a:gd name="csY3" fmla="*/ 633304 h 703153"/>
                <a:gd name="csX4" fmla="*/ 3244850 w 3327400"/>
                <a:gd name="csY4" fmla="*/ 703154 h 703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7400" h="703153">
                  <a:moveTo>
                    <a:pt x="3327400" y="17354"/>
                  </a:moveTo>
                  <a:cubicBezTo>
                    <a:pt x="3109849" y="17354"/>
                    <a:pt x="1540510" y="4654"/>
                    <a:pt x="969264" y="18"/>
                  </a:cubicBezTo>
                  <a:cubicBezTo>
                    <a:pt x="835419" y="-1055"/>
                    <a:pt x="705529" y="45357"/>
                    <a:pt x="602678" y="131019"/>
                  </a:cubicBezTo>
                  <a:lnTo>
                    <a:pt x="0" y="633304"/>
                  </a:lnTo>
                  <a:lnTo>
                    <a:pt x="3244850" y="703154"/>
                  </a:lnTo>
                  <a:close/>
                </a:path>
              </a:pathLst>
            </a:custGeom>
            <a:solidFill>
              <a:srgbClr val="253C6D"/>
            </a:solidFill>
            <a:ln w="6350" cap="flat">
              <a:noFill/>
              <a:prstDash val="solid"/>
              <a:miter/>
            </a:ln>
          </p:spPr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B158948-199E-54F6-CC6A-CD062D4B5441}"/>
                </a:ext>
              </a:extLst>
            </p:cNvPr>
            <p:cNvSpPr/>
            <p:nvPr/>
          </p:nvSpPr>
          <p:spPr>
            <a:xfrm>
              <a:off x="0" y="5921502"/>
              <a:ext cx="12192000" cy="936497"/>
            </a:xfrm>
            <a:custGeom>
              <a:avLst/>
              <a:gdLst>
                <a:gd name="csX0" fmla="*/ 12192000 w 12192000"/>
                <a:gd name="csY0" fmla="*/ 2350 h 936497"/>
                <a:gd name="csX1" fmla="*/ 7964170 w 12192000"/>
                <a:gd name="csY1" fmla="*/ 0 h 936497"/>
                <a:gd name="csX2" fmla="*/ 7649019 w 12192000"/>
                <a:gd name="csY2" fmla="*/ 107315 h 936497"/>
                <a:gd name="csX3" fmla="*/ 6943027 w 12192000"/>
                <a:gd name="csY3" fmla="*/ 652272 h 936497"/>
                <a:gd name="csX4" fmla="*/ 6714427 w 12192000"/>
                <a:gd name="csY4" fmla="*/ 730187 h 936497"/>
                <a:gd name="csX5" fmla="*/ 0 w 12192000"/>
                <a:gd name="csY5" fmla="*/ 733298 h 936497"/>
                <a:gd name="csX6" fmla="*/ 0 w 12192000"/>
                <a:gd name="csY6" fmla="*/ 936498 h 936497"/>
                <a:gd name="csX7" fmla="*/ 12192000 w 12192000"/>
                <a:gd name="csY7" fmla="*/ 936498 h 936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192000" h="936497">
                  <a:moveTo>
                    <a:pt x="12192000" y="2350"/>
                  </a:moveTo>
                  <a:lnTo>
                    <a:pt x="7964170" y="0"/>
                  </a:lnTo>
                  <a:cubicBezTo>
                    <a:pt x="7850124" y="-76"/>
                    <a:pt x="7739317" y="37668"/>
                    <a:pt x="7649019" y="107315"/>
                  </a:cubicBezTo>
                  <a:lnTo>
                    <a:pt x="6943027" y="652272"/>
                  </a:lnTo>
                  <a:cubicBezTo>
                    <a:pt x="6877558" y="702818"/>
                    <a:pt x="6797168" y="730187"/>
                    <a:pt x="6714427" y="730187"/>
                  </a:cubicBezTo>
                  <a:lnTo>
                    <a:pt x="0" y="733298"/>
                  </a:lnTo>
                  <a:lnTo>
                    <a:pt x="0" y="936498"/>
                  </a:lnTo>
                  <a:lnTo>
                    <a:pt x="12192000" y="936498"/>
                  </a:lnTo>
                  <a:close/>
                </a:path>
              </a:pathLst>
            </a:custGeom>
            <a:solidFill>
              <a:srgbClr val="F2842F"/>
            </a:solidFill>
            <a:ln w="6350" cap="flat">
              <a:noFill/>
              <a:prstDash val="solid"/>
              <a:miter/>
            </a:ln>
          </p:spPr>
        </p:sp>
      </p:grpSp>
      <p:sp>
        <p:nvSpPr>
          <p:cNvPr id="3" name="Google Shape;202;p45">
            <a:extLst>
              <a:ext uri="{FF2B5EF4-FFF2-40B4-BE49-F238E27FC236}">
                <a16:creationId xmlns:a16="http://schemas.microsoft.com/office/drawing/2014/main" id="{6BF16071-0212-0BAB-F060-72458C9196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1279" y="404813"/>
            <a:ext cx="8627829" cy="57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aseline="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pic>
        <p:nvPicPr>
          <p:cNvPr id="8" name="Picture 7" descr="Sathyabama Institute of Science and Technology Marks Calculator | CGPA &amp;  SGPA">
            <a:extLst>
              <a:ext uri="{FF2B5EF4-FFF2-40B4-BE49-F238E27FC236}">
                <a16:creationId xmlns:a16="http://schemas.microsoft.com/office/drawing/2014/main" id="{F2C043C2-F269-2061-CA94-F6ACF5D2C0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01" y="148062"/>
            <a:ext cx="1047750" cy="104775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B420C4F-56EC-8F21-F85A-F539849AD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011DAA12-713E-1B53-F990-5B1A0D6AE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>
            <a:lvl1pPr>
              <a:buFontTx/>
              <a:buNone/>
              <a:defRPr sz="2400">
                <a:solidFill>
                  <a:schemeClr val="tx1"/>
                </a:solidFill>
              </a:defRPr>
            </a:lvl1pPr>
            <a:lvl2pPr>
              <a:defRPr sz="22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8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9979108" y="364408"/>
            <a:ext cx="1955579" cy="61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83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6F7FB7-8A81-2B7E-ED1D-92AF28D5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47671-D508-B7AD-B296-E1CA61705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22D36-9015-9164-2ED7-AD3DF4607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25E12-DB88-696D-9012-0D8486CF5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F1C9F-DDFD-4251-4985-A2941FAC1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FE0C-FD5A-4524-A8B1-CEC4446D43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0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FDAC-57A7-98AC-D986-6B23EEBC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06CD56A3-578C-0180-77A5-729AC080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2" y="1630349"/>
            <a:ext cx="5587999" cy="936496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REAL-TIME CRYPTO ATTACK ALERT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8589B8E-4A29-73AF-5A2F-EB72CC734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5587999" cy="3422575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2000" b="1" dirty="0">
                <a:solidFill>
                  <a:srgbClr val="FF0000"/>
                </a:solidFill>
                <a:latin typeface="Aptos"/>
              </a:rPr>
              <a:t>DEXATHON IDEA</a:t>
            </a:r>
          </a:p>
          <a:p>
            <a:pPr>
              <a:spcAft>
                <a:spcPts val="1000"/>
              </a:spcAft>
            </a:pPr>
            <a:r>
              <a:rPr sz="1700" b="1" dirty="0">
                <a:latin typeface="Aptos"/>
              </a:rPr>
              <a:t>Theme:</a:t>
            </a:r>
            <a:r>
              <a:rPr lang="en-US" sz="1700" b="1" dirty="0">
                <a:latin typeface="Aptos"/>
              </a:rPr>
              <a:t> </a:t>
            </a:r>
            <a:r>
              <a:rPr lang="en-US" sz="1700" b="0" dirty="0">
                <a:latin typeface="Aptos"/>
              </a:rPr>
              <a:t>  Cybersecurity</a:t>
            </a:r>
            <a:endParaRPr sz="1700" b="0" dirty="0"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700" b="1" dirty="0">
                <a:latin typeface="Aptos"/>
              </a:rPr>
              <a:t>PS Category:</a:t>
            </a:r>
            <a:r>
              <a:rPr sz="1700" b="0" dirty="0">
                <a:latin typeface="Aptos"/>
              </a:rPr>
              <a:t> </a:t>
            </a:r>
            <a:r>
              <a:rPr lang="en-US" sz="1700" b="0" dirty="0">
                <a:latin typeface="Aptos"/>
              </a:rPr>
              <a:t> </a:t>
            </a:r>
            <a:r>
              <a:rPr sz="1700" b="0" dirty="0">
                <a:latin typeface="Aptos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700" b="1" dirty="0">
                <a:latin typeface="Aptos"/>
              </a:rPr>
              <a:t>Team Name:</a:t>
            </a:r>
            <a:r>
              <a:rPr sz="1700" b="0" dirty="0">
                <a:latin typeface="Aptos"/>
              </a:rPr>
              <a:t> </a:t>
            </a:r>
            <a:r>
              <a:rPr lang="en-US" sz="1700" b="0" dirty="0">
                <a:latin typeface="Aptos"/>
              </a:rPr>
              <a:t> </a:t>
            </a:r>
            <a:r>
              <a:rPr lang="en-US" sz="1800" b="0" dirty="0" err="1">
                <a:latin typeface="Aptos"/>
              </a:rPr>
              <a:t>Techimons</a:t>
            </a:r>
            <a:r>
              <a:rPr lang="en-US" sz="1800" b="0" dirty="0">
                <a:latin typeface="Aptos"/>
              </a:rPr>
              <a:t> </a:t>
            </a:r>
          </a:p>
          <a:p>
            <a:pPr>
              <a:spcAft>
                <a:spcPts val="1000"/>
              </a:spcAft>
            </a:pPr>
            <a:r>
              <a:rPr sz="1700" b="1" dirty="0">
                <a:latin typeface="Aptos"/>
              </a:rPr>
              <a:t>Team ID: </a:t>
            </a:r>
            <a:r>
              <a:rPr lang="en-US" sz="1700" b="1" dirty="0">
                <a:latin typeface="Aptos"/>
              </a:rPr>
              <a:t> </a:t>
            </a:r>
            <a:r>
              <a:rPr sz="1700" b="0" dirty="0">
                <a:latin typeface="Aptos"/>
              </a:rPr>
              <a:t>[Enter portal team ID]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A1547A-8CFB-621B-D78D-7A6A2FC212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82075" y="6356350"/>
            <a:ext cx="3209925" cy="365125"/>
          </a:xfrm>
        </p:spPr>
        <p:txBody>
          <a:bodyPr/>
          <a:lstStyle/>
          <a:p>
            <a:r>
              <a:t>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24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174EA7-003F-89B1-1E7C-F8A57DE9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IDEA TITLE | Real-Time Crypto Attack Alert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9F55E-3122-1F47-4A39-E67B9B6E4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8FC1CE-9842-CF70-2FC2-083A847834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6646" y="1333498"/>
            <a:ext cx="11623878" cy="4241392"/>
          </a:xfrm>
        </p:spPr>
        <p:txBody>
          <a:bodyPr wrap="square" lIns="73152" tIns="54864" rIns="73152" bIns="36576"/>
          <a:lstStyle/>
          <a:p>
            <a:pPr>
              <a:spcBef>
                <a:spcPts val="200"/>
              </a:spcBef>
              <a:spcAft>
                <a:spcPts val="900"/>
              </a:spcAft>
              <a:defRPr sz="1900" b="1">
                <a:latin typeface="Aptos"/>
              </a:defRPr>
            </a:pPr>
            <a:r>
              <a:rPr sz="1900" b="1" dirty="0">
                <a:solidFill>
                  <a:schemeClr val="accent2"/>
                </a:solidFill>
                <a:latin typeface="Aptos"/>
              </a:rPr>
              <a:t>THE PROBLEM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700" b="0">
                <a:latin typeface="Aptos"/>
              </a:defRPr>
            </a:pPr>
            <a:r>
              <a:rPr sz="1700" b="0" dirty="0">
                <a:latin typeface="Aptos"/>
              </a:rPr>
              <a:t>Crypto assets can be moved in minutes, while teams may discover an attack only after users report a failure.</a:t>
            </a:r>
            <a:endParaRPr lang="en-US" sz="1700" b="0" dirty="0">
              <a:latin typeface="Aptos"/>
            </a:endParaRPr>
          </a:p>
          <a:p>
            <a:pPr lvl="1">
              <a:spcBef>
                <a:spcPts val="0"/>
              </a:spcBef>
              <a:spcAft>
                <a:spcPts val="500"/>
              </a:spcAft>
              <a:defRPr sz="1700" b="0">
                <a:latin typeface="Aptos"/>
              </a:defRPr>
            </a:pPr>
            <a:endParaRPr sz="1700" b="0" dirty="0">
              <a:latin typeface="Aptos"/>
            </a:endParaRPr>
          </a:p>
          <a:p>
            <a:pPr>
              <a:spcBef>
                <a:spcPts val="200"/>
              </a:spcBef>
              <a:spcAft>
                <a:spcPts val="900"/>
              </a:spcAft>
              <a:defRPr sz="1900" b="1">
                <a:latin typeface="Aptos"/>
              </a:defRPr>
            </a:pPr>
            <a:r>
              <a:rPr sz="1900" b="1" dirty="0">
                <a:solidFill>
                  <a:schemeClr val="accent2"/>
                </a:solidFill>
                <a:latin typeface="Aptos"/>
              </a:rPr>
              <a:t>OUR SOLUTION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700" b="0">
                <a:latin typeface="Aptos"/>
              </a:defRPr>
            </a:pPr>
            <a:r>
              <a:rPr sz="1700" b="0" dirty="0">
                <a:latin typeface="Aptos"/>
              </a:rPr>
              <a:t>A 24/7 blockchain-monitoring tool that detects suspicious transfers and sends clear, immediate alerts.</a:t>
            </a:r>
            <a:endParaRPr lang="en-US" sz="1700" b="0" dirty="0">
              <a:latin typeface="Aptos"/>
            </a:endParaRPr>
          </a:p>
          <a:p>
            <a:pPr lvl="1">
              <a:spcBef>
                <a:spcPts val="0"/>
              </a:spcBef>
              <a:spcAft>
                <a:spcPts val="500"/>
              </a:spcAft>
              <a:defRPr sz="1700" b="0">
                <a:latin typeface="Aptos"/>
              </a:defRPr>
            </a:pPr>
            <a:endParaRPr sz="1700" b="0" dirty="0">
              <a:latin typeface="Aptos"/>
            </a:endParaRPr>
          </a:p>
          <a:p>
            <a:pPr>
              <a:spcBef>
                <a:spcPts val="200"/>
              </a:spcBef>
              <a:spcAft>
                <a:spcPts val="900"/>
              </a:spcAft>
              <a:defRPr sz="1900" b="1">
                <a:latin typeface="Aptos"/>
              </a:defRPr>
            </a:pPr>
            <a:r>
              <a:rPr sz="1900" b="1" dirty="0">
                <a:solidFill>
                  <a:schemeClr val="accent2"/>
                </a:solidFill>
                <a:latin typeface="Aptos"/>
              </a:rPr>
              <a:t>HOW IT WORKS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700" b="1">
                <a:latin typeface="Aptos"/>
              </a:defRPr>
            </a:pPr>
            <a:r>
              <a:rPr sz="1700" b="1" dirty="0">
                <a:latin typeface="Aptos"/>
              </a:rPr>
              <a:t>WATCH → DETECT → ALERT → RESPOND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700" b="0">
                <a:latin typeface="Aptos"/>
              </a:defRPr>
            </a:pPr>
            <a:r>
              <a:rPr sz="1700" b="0" dirty="0">
                <a:latin typeface="Aptos"/>
              </a:rPr>
              <a:t>Tracks transactions, scores risk using configurable rules, and notifies users through </a:t>
            </a:r>
            <a:r>
              <a:rPr lang="en-US" sz="1700" dirty="0">
                <a:latin typeface="Aptos"/>
              </a:rPr>
              <a:t>Mail</a:t>
            </a:r>
            <a:r>
              <a:rPr sz="1700" b="0" dirty="0">
                <a:latin typeface="Aptos"/>
              </a:rPr>
              <a:t> or a phone alert.</a:t>
            </a:r>
            <a:endParaRPr lang="en-US" sz="1700" b="0" dirty="0">
              <a:latin typeface="Aptos"/>
            </a:endParaRPr>
          </a:p>
          <a:p>
            <a:pPr lvl="1">
              <a:spcBef>
                <a:spcPts val="0"/>
              </a:spcBef>
              <a:spcAft>
                <a:spcPts val="500"/>
              </a:spcAft>
              <a:defRPr sz="1700" b="0">
                <a:latin typeface="Aptos"/>
              </a:defRPr>
            </a:pPr>
            <a:endParaRPr sz="1700" b="0" dirty="0">
              <a:latin typeface="Aptos"/>
            </a:endParaRPr>
          </a:p>
          <a:p>
            <a:pPr>
              <a:spcBef>
                <a:spcPts val="200"/>
              </a:spcBef>
              <a:spcAft>
                <a:spcPts val="900"/>
              </a:spcAft>
              <a:defRPr sz="1900" b="1">
                <a:latin typeface="Aptos"/>
              </a:defRPr>
            </a:pPr>
            <a:r>
              <a:rPr sz="1900" b="1" dirty="0">
                <a:solidFill>
                  <a:schemeClr val="accent2"/>
                </a:solidFill>
                <a:latin typeface="Aptos"/>
              </a:rPr>
              <a:t>WHAT MAKES IT DIFFERENT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700" b="0">
                <a:latin typeface="Aptos"/>
              </a:defRPr>
            </a:pPr>
            <a:r>
              <a:rPr sz="1700" b="0" dirty="0">
                <a:latin typeface="Aptos"/>
              </a:rPr>
              <a:t>Designed to be lightweight and accessible for smaller teams and individual wallet users—not only large enterprises.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B1EBC2-D330-0D06-582C-A094A78779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b="24590"/>
          <a:stretch>
            <a:fillRect/>
          </a:stretch>
        </p:blipFill>
        <p:spPr>
          <a:xfrm>
            <a:off x="3401330" y="979469"/>
            <a:ext cx="5214510" cy="38984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6B696D-D7A6-72C2-495C-F7E0B16777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4387" b="6023"/>
          <a:stretch>
            <a:fillRect/>
          </a:stretch>
        </p:blipFill>
        <p:spPr>
          <a:xfrm>
            <a:off x="0" y="5635902"/>
            <a:ext cx="4344979" cy="82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7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A9B2-4145-047E-4788-11A7E65A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56E314-826D-F661-98DC-382C6809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TECHNICAL APPROACH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8579B-D1ED-8571-DE02-5C97F25C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E683CC-7AD2-3D83-D0E5-34D9E4E33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 wrap="square" lIns="73152" tIns="54864" rIns="73152" bIns="36576"/>
          <a:lstStyle/>
          <a:p>
            <a:pPr marL="0" indent="0"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SYSTEM PIPELINE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1">
                <a:latin typeface="Aptos"/>
              </a:defRPr>
            </a:pPr>
            <a:r>
              <a:rPr sz="1600" b="1" dirty="0">
                <a:latin typeface="Aptos"/>
              </a:rPr>
              <a:t>Blockchain data / RPC feed  →  Event listener  →  Feature extraction  →  Risk scoring  →  Alert service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DATA SIGNALS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Transfer value compared with a configurable baseline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Rapid bursts of transfers or unusual transaction frequency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 New or unexpected destination addresses and abnormal patterns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PROPOSED STACK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Python for detection logic; Web3 / blockchain RPC APIs for transaction data; a rules-based scoring layer first, with an ML anomaly detector as the next stage; Telegram Bot API for notifications; a lightweight dashboard for review.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DEMO PLAN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Replay a historical attack timeline in a test environment and show the alert triggering when suspicious activity first appears. The demo is a replay—not a claim of live protection on production funds.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79044-A293-250D-B407-01B4ED8B63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-1889" r="1889" b="23729"/>
          <a:stretch>
            <a:fillRect/>
          </a:stretch>
        </p:blipFill>
        <p:spPr>
          <a:xfrm>
            <a:off x="3433010" y="904240"/>
            <a:ext cx="4892843" cy="42322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8A5A98-83A1-DFEC-F3A5-233F4B82F8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4387" b="6023"/>
          <a:stretch>
            <a:fillRect/>
          </a:stretch>
        </p:blipFill>
        <p:spPr>
          <a:xfrm>
            <a:off x="0" y="5635902"/>
            <a:ext cx="4344979" cy="82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2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8DB02-F265-94FF-6DDE-A3106183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965A3FB-D8C6-A614-A208-A0FE6209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FEASIBILITY AND VIABILITY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CF34F-0E06-32B0-3C1C-5F1056DA4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1EADFB-1101-5DB8-BB14-B9D50D5223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 wrap="square" lIns="73152" tIns="54864" rIns="73152" bIns="36576"/>
          <a:lstStyle/>
          <a:p>
            <a:pPr marL="0" indent="0"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WHY IT IS FEASIBLE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Public blockchains expose transaction data, and a working prototype can begin with one chain, a small set of detection rules, and Telegram alerts.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KEY CHALLENGES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• False positives from legitimate large transfers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• Network/API delays, rate limits, or missed events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• Attack patterns change; a single rule cannot detect every exploit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MITIGATION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Use configurable thresholds, severity levels, and an allowlist; reconnect and backfill after outages; log every alert; test on historical incidents; and measure precision, recall, and alert latency.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SAFETY BOUNDARY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The tool is an early-warning system, not a guarantee. Any pause/freeze action depends on permissions and protocol support; the initial prototype should alert first and require human confirmation for consequential actions.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58A2D8-AE0B-2829-9E92-A52E3DBAF0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-1889" r="1889" b="23729"/>
          <a:stretch>
            <a:fillRect/>
          </a:stretch>
        </p:blipFill>
        <p:spPr>
          <a:xfrm>
            <a:off x="3433010" y="904240"/>
            <a:ext cx="4892843" cy="4232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6F5824-9D68-9885-1618-9F3FF1EB34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4387" b="6023"/>
          <a:stretch>
            <a:fillRect/>
          </a:stretch>
        </p:blipFill>
        <p:spPr>
          <a:xfrm>
            <a:off x="0" y="5635902"/>
            <a:ext cx="4344979" cy="82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8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46AE-5B58-1B80-0EAF-10AC0031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95AAEE-0716-FFBD-AA8F-1709F2589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BUSINESS CANVAS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ED3C0-45B9-4F61-CC2E-E7819EB75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BE356E-B92D-BC18-5616-7985E08D28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6" y="1333497"/>
            <a:ext cx="11449048" cy="4620263"/>
          </a:xfrm>
        </p:spPr>
        <p:txBody>
          <a:bodyPr wrap="square" lIns="73152" tIns="54864" rIns="73152" bIns="36576"/>
          <a:lstStyle/>
          <a:p>
            <a:pPr marL="0" indent="0">
              <a:spcBef>
                <a:spcPts val="200"/>
              </a:spcBef>
              <a:spcAft>
                <a:spcPts val="900"/>
              </a:spcAft>
              <a:defRPr sz="1700" b="1">
                <a:latin typeface="Aptos"/>
              </a:defRPr>
            </a:pPr>
            <a:r>
              <a:rPr sz="1700" b="1" dirty="0">
                <a:solidFill>
                  <a:schemeClr val="accent2"/>
                </a:solidFill>
                <a:latin typeface="Aptos"/>
              </a:rPr>
              <a:t>MISSION &amp; VISION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500" b="0">
                <a:latin typeface="Aptos"/>
              </a:defRPr>
            </a:pPr>
            <a:r>
              <a:rPr sz="1500" b="0" dirty="0">
                <a:latin typeface="Aptos"/>
              </a:rPr>
              <a:t>Give smaller crypto projects an affordable chance to detect suspicious activity before losses escalate.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700" b="1">
                <a:latin typeface="Aptos"/>
              </a:defRPr>
            </a:pPr>
            <a:r>
              <a:rPr sz="1700" b="1" dirty="0">
                <a:solidFill>
                  <a:schemeClr val="accent2"/>
                </a:solidFill>
                <a:latin typeface="Aptos"/>
              </a:rPr>
              <a:t>TARGET USERS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500" b="0">
                <a:latin typeface="Aptos"/>
              </a:defRPr>
            </a:pPr>
            <a:r>
              <a:rPr sz="1500" b="0" dirty="0">
                <a:latin typeface="Aptos"/>
              </a:rPr>
              <a:t>Wallet owners, DeFi users, blockchain startups, NFT/game projects, and small exchange or protocol teams.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700" b="1">
                <a:latin typeface="Aptos"/>
              </a:defRPr>
            </a:pPr>
            <a:r>
              <a:rPr sz="1700" b="1" dirty="0">
                <a:solidFill>
                  <a:schemeClr val="accent2"/>
                </a:solidFill>
                <a:latin typeface="Aptos"/>
              </a:rPr>
              <a:t>MARKET &amp; COMPETITIVE POSITION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500" b="0">
                <a:latin typeface="Aptos"/>
              </a:defRPr>
            </a:pPr>
            <a:r>
              <a:rPr sz="1500" b="0" dirty="0">
                <a:latin typeface="Aptos"/>
              </a:rPr>
              <a:t>Enterprise monitoring platforms can be powerful but costly or complex. Our starting point is simple setup, readable alerts, transparent rules, and a low-friction prototype. This is a positioning hypothesis to validate with user interviews.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700" b="1">
                <a:latin typeface="Aptos"/>
              </a:defRPr>
            </a:pPr>
            <a:r>
              <a:rPr sz="1700" b="1" dirty="0">
                <a:solidFill>
                  <a:schemeClr val="accent2"/>
                </a:solidFill>
                <a:latin typeface="Aptos"/>
              </a:rPr>
              <a:t>BUSINESS MODEL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500" b="0">
                <a:latin typeface="Aptos"/>
              </a:defRPr>
            </a:pPr>
            <a:r>
              <a:rPr sz="1500" b="0" dirty="0">
                <a:latin typeface="Aptos"/>
              </a:rPr>
              <a:t>Freemium: free monitoring for a limited number of wallets; paid tiers for more wallets, custom rules, team dashboards, and faster support.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700" b="1">
                <a:latin typeface="Aptos"/>
              </a:defRPr>
            </a:pPr>
            <a:r>
              <a:rPr sz="1700" b="1" dirty="0">
                <a:solidFill>
                  <a:schemeClr val="accent2"/>
                </a:solidFill>
                <a:latin typeface="Aptos"/>
              </a:rPr>
              <a:t>COSTS &amp; VALIDATION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500" b="0">
                <a:latin typeface="Aptos"/>
              </a:defRPr>
            </a:pPr>
            <a:r>
              <a:rPr sz="1500" b="0" dirty="0">
                <a:latin typeface="Aptos"/>
              </a:rPr>
              <a:t>Initial costs: RPC/API usage, hosting, alert delivery, and development time. Start with free tiers and a narrow prototype; interview potential users and test willingness to pay before scaling.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0645C0-0917-125D-EF5A-7282EBA5C3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-1889" r="1889" b="23729"/>
          <a:stretch>
            <a:fillRect/>
          </a:stretch>
        </p:blipFill>
        <p:spPr>
          <a:xfrm>
            <a:off x="3433010" y="904240"/>
            <a:ext cx="4892843" cy="4232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1A7A13-C40E-3A60-E995-A6EA140104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4387" b="6023"/>
          <a:stretch>
            <a:fillRect/>
          </a:stretch>
        </p:blipFill>
        <p:spPr>
          <a:xfrm>
            <a:off x="0" y="5635902"/>
            <a:ext cx="4344979" cy="82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65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07B8-F5D6-3D86-94BE-3F5ED1B8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F67624-53B3-3D31-2B35-373FAA66E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IMPACT AND BENEFITS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2F363D-C4B0-D7BE-2CB3-5316C2D4F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6C0CC6-69DF-FFA4-21C0-4344321D5A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 wrap="square" lIns="73152" tIns="54864" rIns="73152" bIns="36576"/>
          <a:lstStyle/>
          <a:p>
            <a:pPr marL="0" indent="0"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FOR USERS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Faster awareness of unusual transfers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 Clear alerts that explain what looks suspicious and why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 Less need to watch blockchain activity manually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FOR SMALL TEAMS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 A lower-cost starting point for transaction monitoring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 Shared alert history to support investigation and response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MEASURABLE SUCCESS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1">
                <a:latin typeface="Aptos"/>
              </a:defRPr>
            </a:pPr>
            <a:r>
              <a:rPr sz="1600" b="1" dirty="0">
                <a:latin typeface="Aptos"/>
              </a:rPr>
              <a:t>Alert latency • Detection precision • Recall on replayed incidents • False alerts per wallet per day • Time from alert to human review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800" b="1">
                <a:latin typeface="Aptos"/>
              </a:defRPr>
            </a:pPr>
            <a:r>
              <a:rPr sz="1800" b="1" dirty="0">
                <a:solidFill>
                  <a:schemeClr val="accent2"/>
                </a:solidFill>
                <a:latin typeface="Aptos"/>
              </a:rPr>
              <a:t>EXPECTED OUTCOME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defRPr sz="1600" b="0">
                <a:latin typeface="Aptos"/>
              </a:defRPr>
            </a:pPr>
            <a:r>
              <a:rPr sz="1600" b="0" dirty="0">
                <a:latin typeface="Aptos"/>
              </a:rPr>
              <a:t>The project aims to reduce the time between suspicious on-chain activity and human awareness. It cannot promise to prevent every attack or recover funds after a transfer.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29EF7-67BE-C74F-24C1-59C9739FF5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-1889" r="1889" b="23729"/>
          <a:stretch>
            <a:fillRect/>
          </a:stretch>
        </p:blipFill>
        <p:spPr>
          <a:xfrm>
            <a:off x="3433010" y="904240"/>
            <a:ext cx="4892843" cy="4232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8136E5-0447-6698-737C-5825A7027A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4387" b="6023"/>
          <a:stretch>
            <a:fillRect/>
          </a:stretch>
        </p:blipFill>
        <p:spPr>
          <a:xfrm>
            <a:off x="0" y="5635902"/>
            <a:ext cx="4344979" cy="82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7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DFAE-A482-800C-BDE7-191E7C5E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2AA865-8A43-4424-BF3F-C2BAD148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279" y="404813"/>
            <a:ext cx="8627829" cy="574656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RESEARCH AND REFERENCES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9C97E-BADD-963B-CFF7-507C4D4F7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</p:spPr>
        <p:txBody>
          <a:bodyPr/>
          <a:lstStyle/>
          <a:p>
            <a:fld id="{A6FCFE0C-FD5A-4524-A8B1-CEC4446D43C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B23928-3D63-423C-F329-D41831692B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302405"/>
          </a:xfrm>
        </p:spPr>
        <p:txBody>
          <a:bodyPr wrap="square" lIns="73152" tIns="54864" rIns="73152" bIns="36576"/>
          <a:lstStyle/>
          <a:p>
            <a:pPr marL="0" indent="0">
              <a:spcBef>
                <a:spcPts val="200"/>
              </a:spcBef>
              <a:spcAft>
                <a:spcPts val="900"/>
              </a:spcAft>
              <a:defRPr sz="1700" b="1">
                <a:latin typeface="Aptos"/>
              </a:defRPr>
            </a:pPr>
            <a:r>
              <a:rPr sz="1700" b="1" dirty="0">
                <a:solidFill>
                  <a:schemeClr val="accent2"/>
                </a:solidFill>
                <a:latin typeface="Aptos"/>
              </a:rPr>
              <a:t>INCIDENTS USED IN THE IDEA BRIEF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 sz="1500" b="0">
                <a:latin typeface="Aptos"/>
              </a:defRPr>
            </a:pPr>
            <a:r>
              <a:rPr sz="1500" b="0" dirty="0">
                <a:latin typeface="Aptos"/>
              </a:rPr>
              <a:t> </a:t>
            </a:r>
            <a:r>
              <a:rPr sz="1500" b="1" dirty="0">
                <a:latin typeface="Aptos"/>
              </a:rPr>
              <a:t>Ronin bridge attack (2022): </a:t>
            </a:r>
            <a:r>
              <a:rPr sz="1500" b="0" dirty="0">
                <a:latin typeface="Aptos"/>
              </a:rPr>
              <a:t>the supplied brief cites roughly $600M stolen and a six-day delay before discovery.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 sz="1500" b="0">
                <a:latin typeface="Aptos"/>
              </a:defRPr>
            </a:pPr>
            <a:r>
              <a:rPr sz="1500" b="1" dirty="0" err="1">
                <a:latin typeface="Aptos"/>
              </a:rPr>
              <a:t>Bybit</a:t>
            </a:r>
            <a:r>
              <a:rPr sz="1500" b="1" dirty="0">
                <a:latin typeface="Aptos"/>
              </a:rPr>
              <a:t>-related fake-interface incident (2025): </a:t>
            </a:r>
            <a:r>
              <a:rPr sz="1500" b="0" dirty="0">
                <a:latin typeface="Aptos"/>
              </a:rPr>
              <a:t>the supplied brief describes a compromised transaction approval flow and approximately $1.5B in losses.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700" b="1">
                <a:latin typeface="Aptos"/>
              </a:defRPr>
            </a:pPr>
            <a:r>
              <a:rPr sz="1700" b="1" dirty="0">
                <a:solidFill>
                  <a:schemeClr val="accent2"/>
                </a:solidFill>
                <a:latin typeface="Aptos"/>
              </a:rPr>
              <a:t>TECHNICAL RESEARCH TO COMPLETE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 sz="1500" b="0">
                <a:latin typeface="Aptos"/>
              </a:defRPr>
            </a:pPr>
            <a:r>
              <a:rPr sz="1500" b="0" dirty="0">
                <a:latin typeface="Aptos"/>
              </a:rPr>
              <a:t>Official documentation for the chosen chain’s RPC / event subscription API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 sz="1500" b="0">
                <a:latin typeface="Aptos"/>
              </a:defRPr>
            </a:pPr>
            <a:r>
              <a:rPr sz="1500" b="0" dirty="0">
                <a:latin typeface="Aptos"/>
              </a:rPr>
              <a:t> Web3 library documentation and Telegram Bot API documentation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 sz="1500" b="0">
                <a:latin typeface="Aptos"/>
              </a:defRPr>
            </a:pPr>
            <a:r>
              <a:rPr sz="1500" b="0" dirty="0">
                <a:latin typeface="Aptos"/>
              </a:rPr>
              <a:t> Historical transaction datasets and published post-mortems for replay testing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700" b="1">
                <a:latin typeface="Aptos"/>
              </a:defRPr>
            </a:pPr>
            <a:r>
              <a:rPr sz="1700" b="1" dirty="0">
                <a:solidFill>
                  <a:schemeClr val="accent2"/>
                </a:solidFill>
                <a:latin typeface="Aptos"/>
              </a:rPr>
              <a:t>VALIDATION NOTE</a:t>
            </a:r>
            <a:endParaRPr lang="en-US" sz="1700" b="1" dirty="0">
              <a:solidFill>
                <a:schemeClr val="accent2"/>
              </a:solidFill>
              <a:latin typeface="Aptos"/>
            </a:endParaRPr>
          </a:p>
          <a:p>
            <a:pPr lvl="1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 sz="1500" b="0">
                <a:latin typeface="Aptos"/>
              </a:defRPr>
            </a:pPr>
            <a:r>
              <a:rPr lang="en-US" sz="1500" b="0" dirty="0">
                <a:latin typeface="Aptos"/>
              </a:rPr>
              <a:t>The figures above are taken from the provided project brief and should be verified against primary incident reports before final submission.</a:t>
            </a:r>
          </a:p>
          <a:p>
            <a:pPr>
              <a:spcBef>
                <a:spcPts val="200"/>
              </a:spcBef>
              <a:spcAft>
                <a:spcPts val="900"/>
              </a:spcAft>
              <a:defRPr sz="1700" b="1">
                <a:latin typeface="Aptos"/>
              </a:defRPr>
            </a:pPr>
            <a:r>
              <a:rPr sz="1700" b="1" dirty="0">
                <a:solidFill>
                  <a:schemeClr val="accent2"/>
                </a:solidFill>
                <a:latin typeface="Aptos"/>
              </a:rPr>
              <a:t>GITHUB REPOSITORY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 sz="1500" b="0">
                <a:latin typeface="Aptos"/>
              </a:defRPr>
            </a:pPr>
            <a:r>
              <a:rPr sz="1500" b="0" dirty="0">
                <a:latin typeface="Aptos"/>
              </a:rPr>
              <a:t>Add repository URL here: [GitHub link]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DC8710-E3C5-F577-ABF8-21C92209AC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-1889" r="1889" b="23729"/>
          <a:stretch>
            <a:fillRect/>
          </a:stretch>
        </p:blipFill>
        <p:spPr>
          <a:xfrm>
            <a:off x="3433010" y="904240"/>
            <a:ext cx="4892843" cy="4232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D64A0A-A3FE-95FF-9314-6965894278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4387" b="6023"/>
          <a:stretch>
            <a:fillRect/>
          </a:stretch>
        </p:blipFill>
        <p:spPr>
          <a:xfrm>
            <a:off x="0" y="5635902"/>
            <a:ext cx="4344979" cy="82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14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xath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842F"/>
      </a:accent1>
      <a:accent2>
        <a:srgbClr val="253C6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787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Arial Black</vt:lpstr>
      <vt:lpstr>Calibri</vt:lpstr>
      <vt:lpstr>Wingdings</vt:lpstr>
      <vt:lpstr>Office Theme</vt:lpstr>
      <vt:lpstr>REAL-TIME CRYPTO ATTACK ALERT</vt:lpstr>
      <vt:lpstr>IDEA TITLE | Real-Time Crypto Attack Alert</vt:lpstr>
      <vt:lpstr>TECHNICAL APPROACH</vt:lpstr>
      <vt:lpstr>FEASIBILITY AND VIABILITY</vt:lpstr>
      <vt:lpstr>BUSINESS CANVAS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SWETHA</dc:creator>
  <cp:lastModifiedBy>swetha R</cp:lastModifiedBy>
  <cp:revision>2</cp:revision>
  <dcterms:modified xsi:type="dcterms:W3CDTF">2026-10-18T08:15:10Z</dcterms:modified>
</cp:coreProperties>
</file>